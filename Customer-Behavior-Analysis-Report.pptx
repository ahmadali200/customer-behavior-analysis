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Barlow" panose="00000500000000000000" pitchFamily="2" charset="0"/>
      <p:regular r:id="rId13"/>
    </p:embeddedFont>
    <p:embeddedFont>
      <p:font typeface="Barlow Light" panose="00000400000000000000" pitchFamily="2" charset="0"/>
      <p:regular r:id="rId14"/>
      <p:italic r:id="rId15"/>
    </p:embeddedFont>
    <p:embeddedFont>
      <p:font typeface="Barlow Semi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3755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0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0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0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0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0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0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0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0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0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0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Uncovering insights from 3,900 purchases to guide strategic business decisions.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81762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206722"/>
            <a:ext cx="4196358" cy="2040493"/>
          </a:xfrm>
          <a:prstGeom prst="roundRect">
            <a:avLst>
              <a:gd name="adj" fmla="val 7170"/>
            </a:avLst>
          </a:prstGeom>
          <a:solidFill>
            <a:srgbClr val="07070C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176242"/>
            <a:ext cx="4196358" cy="12192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1688" y="4866561"/>
            <a:ext cx="680442" cy="68044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755761" y="503670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3"/>
          <p:cNvSpPr/>
          <p:nvPr/>
        </p:nvSpPr>
        <p:spPr>
          <a:xfrm>
            <a:off x="1051084" y="57736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Analyze Transactions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1051084" y="6264116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3,900 purchases across categories.</a:t>
            </a:r>
            <a:endParaRPr lang="en-US" sz="1750" dirty="0"/>
          </a:p>
        </p:txBody>
      </p:sp>
      <p:sp>
        <p:nvSpPr>
          <p:cNvPr id="10" name="Shape 5"/>
          <p:cNvSpPr/>
          <p:nvPr/>
        </p:nvSpPr>
        <p:spPr>
          <a:xfrm>
            <a:off x="5216962" y="5206722"/>
            <a:ext cx="4196358" cy="2040493"/>
          </a:xfrm>
          <a:prstGeom prst="roundRect">
            <a:avLst>
              <a:gd name="adj" fmla="val 7170"/>
            </a:avLst>
          </a:prstGeom>
          <a:solidFill>
            <a:srgbClr val="07070C"/>
          </a:solidFill>
          <a:ln/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962" y="5176242"/>
            <a:ext cx="4196358" cy="121920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4860" y="4866561"/>
            <a:ext cx="680442" cy="68044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178933" y="503670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7"/>
          <p:cNvSpPr/>
          <p:nvPr/>
        </p:nvSpPr>
        <p:spPr>
          <a:xfrm>
            <a:off x="5474256" y="57736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Uncover Insights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5474256" y="6264116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Spending patterns, segments, preferences.</a:t>
            </a:r>
            <a:endParaRPr lang="en-US" sz="1750" dirty="0"/>
          </a:p>
        </p:txBody>
      </p:sp>
      <p:sp>
        <p:nvSpPr>
          <p:cNvPr id="16" name="Shape 9"/>
          <p:cNvSpPr/>
          <p:nvPr/>
        </p:nvSpPr>
        <p:spPr>
          <a:xfrm>
            <a:off x="9640133" y="5206722"/>
            <a:ext cx="4196358" cy="2040493"/>
          </a:xfrm>
          <a:prstGeom prst="roundRect">
            <a:avLst>
              <a:gd name="adj" fmla="val 7170"/>
            </a:avLst>
          </a:prstGeom>
          <a:solidFill>
            <a:srgbClr val="07070C"/>
          </a:solidFill>
          <a:ln/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133" y="5176242"/>
            <a:ext cx="4196358" cy="121920"/>
          </a:xfrm>
          <a:prstGeom prst="rect">
            <a:avLst/>
          </a:prstGeom>
        </p:spPr>
      </p:pic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98032" y="4866561"/>
            <a:ext cx="680442" cy="680442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1602105" y="503670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1"/>
          <p:cNvSpPr/>
          <p:nvPr/>
        </p:nvSpPr>
        <p:spPr>
          <a:xfrm>
            <a:off x="9897427" y="57736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Guide Decisions</a:t>
            </a:r>
            <a:endParaRPr lang="en-US" sz="2200" dirty="0"/>
          </a:p>
        </p:txBody>
      </p:sp>
      <p:sp>
        <p:nvSpPr>
          <p:cNvPr id="21" name="Text 12"/>
          <p:cNvSpPr/>
          <p:nvPr/>
        </p:nvSpPr>
        <p:spPr>
          <a:xfrm>
            <a:off x="9897427" y="6264116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Optimize strategy with data.</a:t>
            </a:r>
            <a:endParaRPr lang="en-US" sz="17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0C62AE-C347-B593-9405-611C7B4EA300}"/>
              </a:ext>
            </a:extLst>
          </p:cNvPr>
          <p:cNvSpPr/>
          <p:nvPr/>
        </p:nvSpPr>
        <p:spPr>
          <a:xfrm>
            <a:off x="12524874" y="7579895"/>
            <a:ext cx="2021305" cy="63327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3130" y="530066"/>
            <a:ext cx="4807863" cy="600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97B8FF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Dataset Summary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1233130" y="1592342"/>
            <a:ext cx="5847398" cy="615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Rows:</a:t>
            </a:r>
            <a:r>
              <a:rPr lang="en-US" sz="150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3,900 </a:t>
            </a:r>
            <a:endParaRPr lang="en-US" sz="15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Columns:</a:t>
            </a:r>
            <a:r>
              <a:rPr lang="en-US" sz="150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18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33130" y="2380655"/>
            <a:ext cx="5847398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Customer demographics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3130" y="2755583"/>
            <a:ext cx="5847398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Purchase details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3130" y="3130510"/>
            <a:ext cx="5847398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Shopping behavior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3130" y="3611166"/>
            <a:ext cx="5847398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Missing Data:</a:t>
            </a:r>
            <a:r>
              <a:rPr lang="en-US" sz="150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37 values in Review Rating.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58954"/>
            <a:ext cx="5847398" cy="5847398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875F04C4-97BB-B692-34C9-0986D94DD930}"/>
              </a:ext>
            </a:extLst>
          </p:cNvPr>
          <p:cNvSpPr/>
          <p:nvPr/>
        </p:nvSpPr>
        <p:spPr>
          <a:xfrm>
            <a:off x="12681284" y="7555832"/>
            <a:ext cx="1949116" cy="6737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85930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Exploratory Data Analysis (Python)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203496"/>
            <a:ext cx="4196358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377803"/>
            <a:ext cx="33857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Data Loading &amp; Exploration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Imported with pandas, checked structure and statistics.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3203496"/>
            <a:ext cx="4196358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16962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Imputed Review Rating using median by category.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3226118"/>
            <a:ext cx="4196358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40133" y="3377803"/>
            <a:ext cx="297596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Column Standardization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40133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Renamed to snake_case for readability.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04</a:t>
            </a:r>
            <a:endParaRPr lang="en-US" sz="17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23165"/>
            <a:ext cx="6407944" cy="30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93790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Created age_group and purchase_frequency_days.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05</a:t>
            </a:r>
            <a:endParaRPr lang="en-US" sz="17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548" y="5323165"/>
            <a:ext cx="6407944" cy="30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428548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Loaded cleaned data to PostgreSQL for SQL analysis.</a:t>
            </a:r>
            <a:endParaRPr lang="en-US" sz="175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8698841-634E-163B-8C36-B723FB031EFE}"/>
              </a:ext>
            </a:extLst>
          </p:cNvPr>
          <p:cNvSpPr/>
          <p:nvPr/>
        </p:nvSpPr>
        <p:spPr>
          <a:xfrm>
            <a:off x="12616100" y="7459579"/>
            <a:ext cx="2014300" cy="77002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1640" y="764143"/>
            <a:ext cx="5297805" cy="662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97B8FF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Data Analysis (SQL)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741640" y="1744147"/>
            <a:ext cx="7660719" cy="1271468"/>
          </a:xfrm>
          <a:prstGeom prst="roundRect">
            <a:avLst>
              <a:gd name="adj" fmla="val 719"/>
            </a:avLst>
          </a:prstGeom>
          <a:solidFill>
            <a:srgbClr val="07070C"/>
          </a:solidFill>
          <a:ln w="22860">
            <a:solidFill>
              <a:srgbClr val="3F3F4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4500" y="1767007"/>
            <a:ext cx="847606" cy="1225748"/>
          </a:xfrm>
          <a:prstGeom prst="rect">
            <a:avLst/>
          </a:prstGeom>
          <a:solidFill>
            <a:srgbClr val="26262B"/>
          </a:solidFill>
          <a:ln/>
        </p:spPr>
      </p:sp>
      <p:sp>
        <p:nvSpPr>
          <p:cNvPr id="6" name="Text 3"/>
          <p:cNvSpPr/>
          <p:nvPr/>
        </p:nvSpPr>
        <p:spPr>
          <a:xfrm>
            <a:off x="1017984" y="2181225"/>
            <a:ext cx="317778" cy="39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dirty="0">
                <a:solidFill>
                  <a:srgbClr val="E0D6DE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1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1823918" y="1978819"/>
            <a:ext cx="2648903" cy="33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E0D6DE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Revenue by Gender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1823918" y="2436971"/>
            <a:ext cx="6343769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Female: $75,191 | Male: $157,890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741640" y="3227427"/>
            <a:ext cx="7660719" cy="1271468"/>
          </a:xfrm>
          <a:prstGeom prst="roundRect">
            <a:avLst>
              <a:gd name="adj" fmla="val 719"/>
            </a:avLst>
          </a:prstGeom>
          <a:solidFill>
            <a:srgbClr val="07070C"/>
          </a:solidFill>
          <a:ln w="22860">
            <a:solidFill>
              <a:srgbClr val="3F3F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4500" y="3250287"/>
            <a:ext cx="847606" cy="1225748"/>
          </a:xfrm>
          <a:prstGeom prst="rect">
            <a:avLst/>
          </a:prstGeom>
          <a:solidFill>
            <a:srgbClr val="26262B"/>
          </a:solidFill>
          <a:ln/>
        </p:spPr>
      </p:sp>
      <p:sp>
        <p:nvSpPr>
          <p:cNvPr id="11" name="Text 8"/>
          <p:cNvSpPr/>
          <p:nvPr/>
        </p:nvSpPr>
        <p:spPr>
          <a:xfrm>
            <a:off x="1017984" y="3664506"/>
            <a:ext cx="317778" cy="39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dirty="0">
                <a:solidFill>
                  <a:srgbClr val="E0D6DE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2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1823918" y="3462099"/>
            <a:ext cx="3538538" cy="33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E0D6DE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High-Spending Discount Users</a:t>
            </a:r>
            <a:endParaRPr lang="en-US" sz="2050" dirty="0"/>
          </a:p>
        </p:txBody>
      </p:sp>
      <p:sp>
        <p:nvSpPr>
          <p:cNvPr id="13" name="Text 10"/>
          <p:cNvSpPr/>
          <p:nvPr/>
        </p:nvSpPr>
        <p:spPr>
          <a:xfrm>
            <a:off x="1823918" y="3920252"/>
            <a:ext cx="6343769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839 customers spent above average with discounts.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741640" y="4710708"/>
            <a:ext cx="7660719" cy="1271468"/>
          </a:xfrm>
          <a:prstGeom prst="roundRect">
            <a:avLst>
              <a:gd name="adj" fmla="val 719"/>
            </a:avLst>
          </a:prstGeom>
          <a:solidFill>
            <a:srgbClr val="07070C"/>
          </a:solidFill>
          <a:ln w="22860">
            <a:solidFill>
              <a:srgbClr val="3F3F4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4500" y="4733568"/>
            <a:ext cx="847606" cy="1225748"/>
          </a:xfrm>
          <a:prstGeom prst="rect">
            <a:avLst/>
          </a:prstGeom>
          <a:solidFill>
            <a:srgbClr val="26262B"/>
          </a:solidFill>
          <a:ln/>
        </p:spPr>
      </p:sp>
      <p:sp>
        <p:nvSpPr>
          <p:cNvPr id="16" name="Text 13"/>
          <p:cNvSpPr/>
          <p:nvPr/>
        </p:nvSpPr>
        <p:spPr>
          <a:xfrm>
            <a:off x="1017984" y="5147786"/>
            <a:ext cx="317778" cy="39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dirty="0">
                <a:solidFill>
                  <a:srgbClr val="E0D6DE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4"/>
          <p:cNvSpPr/>
          <p:nvPr/>
        </p:nvSpPr>
        <p:spPr>
          <a:xfrm>
            <a:off x="1823918" y="4945380"/>
            <a:ext cx="2871192" cy="33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E0D6DE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Top 5 Products by Rating</a:t>
            </a:r>
            <a:endParaRPr lang="en-US" sz="2050" dirty="0"/>
          </a:p>
        </p:txBody>
      </p:sp>
      <p:sp>
        <p:nvSpPr>
          <p:cNvPr id="18" name="Text 15"/>
          <p:cNvSpPr/>
          <p:nvPr/>
        </p:nvSpPr>
        <p:spPr>
          <a:xfrm>
            <a:off x="1823918" y="5403533"/>
            <a:ext cx="6343769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Gloves (3.86), Sandals (3.84), Boots (3.82), Hat (3.80), Skirt (3.78).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741640" y="6193988"/>
            <a:ext cx="7660719" cy="1271468"/>
          </a:xfrm>
          <a:prstGeom prst="roundRect">
            <a:avLst>
              <a:gd name="adj" fmla="val 719"/>
            </a:avLst>
          </a:prstGeom>
          <a:solidFill>
            <a:srgbClr val="07070C"/>
          </a:solidFill>
          <a:ln w="22860">
            <a:solidFill>
              <a:srgbClr val="3F3F4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64500" y="6216848"/>
            <a:ext cx="847606" cy="1225748"/>
          </a:xfrm>
          <a:prstGeom prst="rect">
            <a:avLst/>
          </a:prstGeom>
          <a:solidFill>
            <a:srgbClr val="26262B"/>
          </a:solidFill>
          <a:ln/>
        </p:spPr>
      </p:sp>
      <p:sp>
        <p:nvSpPr>
          <p:cNvPr id="21" name="Text 18"/>
          <p:cNvSpPr/>
          <p:nvPr/>
        </p:nvSpPr>
        <p:spPr>
          <a:xfrm>
            <a:off x="1017984" y="6631067"/>
            <a:ext cx="317778" cy="39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dirty="0">
                <a:solidFill>
                  <a:srgbClr val="E0D6DE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4</a:t>
            </a:r>
            <a:endParaRPr lang="en-US" sz="2500" dirty="0"/>
          </a:p>
        </p:txBody>
      </p:sp>
      <p:sp>
        <p:nvSpPr>
          <p:cNvPr id="22" name="Text 19"/>
          <p:cNvSpPr/>
          <p:nvPr/>
        </p:nvSpPr>
        <p:spPr>
          <a:xfrm>
            <a:off x="1823918" y="6428661"/>
            <a:ext cx="3094196" cy="33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E0D6DE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Shipping Type Comparison</a:t>
            </a:r>
            <a:endParaRPr lang="en-US" sz="2050" dirty="0"/>
          </a:p>
        </p:txBody>
      </p:sp>
      <p:sp>
        <p:nvSpPr>
          <p:cNvPr id="23" name="Text 20"/>
          <p:cNvSpPr/>
          <p:nvPr/>
        </p:nvSpPr>
        <p:spPr>
          <a:xfrm>
            <a:off x="1823918" y="6886813"/>
            <a:ext cx="6343769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Standard: $58.46 | Express: $60.48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92160"/>
            <a:ext cx="999982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SQL Insights: Subscriptions &amp; Discounts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67915"/>
            <a:ext cx="490347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97B8FF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Subscribers vs. Non-Subscribers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793790" y="3048357"/>
            <a:ext cx="6244709" cy="1315879"/>
          </a:xfrm>
          <a:prstGeom prst="roundRect">
            <a:avLst>
              <a:gd name="adj" fmla="val 69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3055977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343" y="3199686"/>
            <a:ext cx="10998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2589490" y="3199686"/>
            <a:ext cx="10960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1053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146828" y="3199686"/>
            <a:ext cx="10960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$59.49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704165" y="3199686"/>
            <a:ext cx="10998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$62,645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01410" y="3706297"/>
            <a:ext cx="6229469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28343" y="3850005"/>
            <a:ext cx="10998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2589490" y="3850005"/>
            <a:ext cx="10960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2847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4146828" y="3850005"/>
            <a:ext cx="10960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$59.87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704165" y="3850005"/>
            <a:ext cx="10998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$170,436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61938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Non-subscribers contribute more revenue.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599521" y="2367915"/>
            <a:ext cx="453544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97B8FF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Discount-Dependent Products</a:t>
            </a:r>
            <a:endParaRPr lang="en-US" sz="2650" dirty="0"/>
          </a:p>
        </p:txBody>
      </p:sp>
      <p:sp>
        <p:nvSpPr>
          <p:cNvPr id="17" name="Shape 15"/>
          <p:cNvSpPr/>
          <p:nvPr/>
        </p:nvSpPr>
        <p:spPr>
          <a:xfrm>
            <a:off x="7599521" y="3048357"/>
            <a:ext cx="6244709" cy="3266837"/>
          </a:xfrm>
          <a:prstGeom prst="roundRect">
            <a:avLst>
              <a:gd name="adj" fmla="val 28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07141" y="3055977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834074" y="3199686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Hat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10952559" y="3199686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50.00%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607141" y="3706297"/>
            <a:ext cx="6229469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834074" y="3850005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Sneakers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0952559" y="3850005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49.66%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7607141" y="4356616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834074" y="4500324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Coat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10952559" y="4500324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49.07%</a:t>
            </a:r>
            <a:endParaRPr lang="en-US" sz="1750" dirty="0"/>
          </a:p>
        </p:txBody>
      </p:sp>
      <p:sp>
        <p:nvSpPr>
          <p:cNvPr id="27" name="Shape 25"/>
          <p:cNvSpPr/>
          <p:nvPr/>
        </p:nvSpPr>
        <p:spPr>
          <a:xfrm>
            <a:off x="7607141" y="5006935"/>
            <a:ext cx="6229469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834074" y="5150644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Sweater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10952559" y="5150644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48.17%</a:t>
            </a:r>
            <a:endParaRPr lang="en-US" sz="1750" dirty="0"/>
          </a:p>
        </p:txBody>
      </p:sp>
      <p:sp>
        <p:nvSpPr>
          <p:cNvPr id="30" name="Shape 28"/>
          <p:cNvSpPr/>
          <p:nvPr/>
        </p:nvSpPr>
        <p:spPr>
          <a:xfrm>
            <a:off x="7607141" y="5657255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834074" y="5800963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Pants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10952559" y="5800963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47.37%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7599521" y="657034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Top 5 products with highest discounted purchases.</a:t>
            </a:r>
            <a:endParaRPr lang="en-US" sz="175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28F2CE2-A29D-4BFE-A630-71C687C6CA2C}"/>
              </a:ext>
            </a:extLst>
          </p:cNvPr>
          <p:cNvSpPr/>
          <p:nvPr/>
        </p:nvSpPr>
        <p:spPr>
          <a:xfrm>
            <a:off x="12681284" y="7471611"/>
            <a:ext cx="1949116" cy="75798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06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9020" y="572810"/>
            <a:ext cx="7685961" cy="1301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97B8FF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Customer Segmentation &amp; Top Products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729020" y="2395299"/>
            <a:ext cx="3124319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97B8FF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Customer Segments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729020" y="3020139"/>
            <a:ext cx="3588901" cy="1328976"/>
          </a:xfrm>
          <a:prstGeom prst="roundRect">
            <a:avLst>
              <a:gd name="adj" fmla="val 688"/>
            </a:avLst>
          </a:prstGeom>
          <a:solidFill>
            <a:srgbClr val="26262B"/>
          </a:solidFill>
          <a:ln w="22860">
            <a:solidFill>
              <a:srgbClr val="3F3F4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3251240"/>
            <a:ext cx="2603659" cy="32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E0D6DE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Loyal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960120" y="3784878"/>
            <a:ext cx="3126700" cy="33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3116 Customers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29020" y="4557355"/>
            <a:ext cx="3588901" cy="1328976"/>
          </a:xfrm>
          <a:prstGeom prst="roundRect">
            <a:avLst>
              <a:gd name="adj" fmla="val 688"/>
            </a:avLst>
          </a:prstGeom>
          <a:solidFill>
            <a:srgbClr val="26262B"/>
          </a:solidFill>
          <a:ln w="22860">
            <a:solidFill>
              <a:srgbClr val="3F3F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4788456"/>
            <a:ext cx="2603659" cy="32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E0D6DE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Returning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960120" y="5322094"/>
            <a:ext cx="3126700" cy="33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701 Customers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29020" y="6094571"/>
            <a:ext cx="3588901" cy="1328976"/>
          </a:xfrm>
          <a:prstGeom prst="roundRect">
            <a:avLst>
              <a:gd name="adj" fmla="val 688"/>
            </a:avLst>
          </a:prstGeom>
          <a:solidFill>
            <a:srgbClr val="26262B"/>
          </a:solidFill>
          <a:ln w="22860">
            <a:solidFill>
              <a:srgbClr val="3F3F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6325672"/>
            <a:ext cx="2603659" cy="32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E0D6DE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New</a:t>
            </a:r>
            <a:endParaRPr lang="en-US" sz="2050" dirty="0"/>
          </a:p>
        </p:txBody>
      </p:sp>
      <p:sp>
        <p:nvSpPr>
          <p:cNvPr id="13" name="Text 10"/>
          <p:cNvSpPr/>
          <p:nvPr/>
        </p:nvSpPr>
        <p:spPr>
          <a:xfrm>
            <a:off x="960120" y="6859310"/>
            <a:ext cx="3126700" cy="33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83 Customers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833699" y="2395299"/>
            <a:ext cx="3588901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97B8FF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Top Products per Category</a:t>
            </a:r>
            <a:endParaRPr lang="en-US" sz="2450" dirty="0"/>
          </a:p>
        </p:txBody>
      </p:sp>
      <p:sp>
        <p:nvSpPr>
          <p:cNvPr id="15" name="Text 12"/>
          <p:cNvSpPr/>
          <p:nvPr/>
        </p:nvSpPr>
        <p:spPr>
          <a:xfrm>
            <a:off x="4833699" y="3384590"/>
            <a:ext cx="3588901" cy="666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Accessories:</a:t>
            </a:r>
            <a:r>
              <a:rPr lang="en-US" sz="160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Jewelry, Sunglasses, Belt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833699" y="4123730"/>
            <a:ext cx="3588901" cy="33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Clothing:</a:t>
            </a:r>
            <a:r>
              <a:rPr lang="en-US" sz="160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Blouse, Pants, Shirt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833699" y="4529733"/>
            <a:ext cx="3588901" cy="666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Footwear:</a:t>
            </a:r>
            <a:r>
              <a:rPr lang="en-US" sz="160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Sandals, Shoes, Sneakers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833699" y="5268873"/>
            <a:ext cx="3588901" cy="33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Outerwear:</a:t>
            </a:r>
            <a:r>
              <a:rPr lang="en-US" sz="160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Jacket, Coat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77146"/>
            <a:ext cx="81395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Repeat Buyers &amp; Revenue by Age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52901"/>
            <a:ext cx="461605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97B8FF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Repeat Buyers &amp; Subscriptions</a:t>
            </a:r>
            <a:endParaRPr lang="en-US" sz="2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33343"/>
            <a:ext cx="6244709" cy="323969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75290" y="6203513"/>
            <a:ext cx="226814" cy="226814"/>
          </a:xfrm>
          <a:prstGeom prst="roundRect">
            <a:avLst>
              <a:gd name="adj" fmla="val 8063"/>
            </a:avLst>
          </a:prstGeom>
          <a:solidFill>
            <a:srgbClr val="00226B"/>
          </a:solidFill>
          <a:ln/>
        </p:spPr>
      </p:sp>
      <p:sp>
        <p:nvSpPr>
          <p:cNvPr id="6" name="Text 3"/>
          <p:cNvSpPr/>
          <p:nvPr/>
        </p:nvSpPr>
        <p:spPr>
          <a:xfrm>
            <a:off x="3563064" y="6203513"/>
            <a:ext cx="2768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3992285" y="6203513"/>
            <a:ext cx="226814" cy="226814"/>
          </a:xfrm>
          <a:prstGeom prst="roundRect">
            <a:avLst>
              <a:gd name="adj" fmla="val 8063"/>
            </a:avLst>
          </a:prstGeom>
          <a:solidFill>
            <a:srgbClr val="296DFF"/>
          </a:solidFill>
          <a:ln/>
        </p:spPr>
      </p:sp>
      <p:sp>
        <p:nvSpPr>
          <p:cNvPr id="8" name="Text 5"/>
          <p:cNvSpPr/>
          <p:nvPr/>
        </p:nvSpPr>
        <p:spPr>
          <a:xfrm>
            <a:off x="4280059" y="6203513"/>
            <a:ext cx="3424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Yes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668547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Repeat buyers are less likely to subscribe.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599521" y="225290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97B8FF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Revenue by Age Group</a:t>
            </a:r>
            <a:endParaRPr lang="en-US" sz="26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9521" y="2933343"/>
            <a:ext cx="6244709" cy="349698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99521" y="668547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Young Adults contribute the most revenue.</a:t>
            </a:r>
            <a:endParaRPr lang="en-US" sz="175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14F4B37-62AB-AEF9-F213-EBB7E20EE4FA}"/>
              </a:ext>
            </a:extLst>
          </p:cNvPr>
          <p:cNvSpPr/>
          <p:nvPr/>
        </p:nvSpPr>
        <p:spPr>
          <a:xfrm>
            <a:off x="12633158" y="7591926"/>
            <a:ext cx="1997242" cy="63767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9104"/>
            <a:ext cx="100655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Power BI Dashboard: Visualizing Insights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2151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Interactive dashboard for key metrics and visualizations.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139565"/>
            <a:ext cx="6407944" cy="1730812"/>
          </a:xfrm>
          <a:prstGeom prst="roundRect">
            <a:avLst>
              <a:gd name="adj" fmla="val 528"/>
            </a:avLst>
          </a:prstGeom>
          <a:solidFill>
            <a:srgbClr val="07070C"/>
          </a:solidFill>
          <a:ln w="30480">
            <a:solidFill>
              <a:srgbClr val="3F3F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084" y="43968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Key Metrics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084" y="4887278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3.9K Customers, $59.76 Avg Purchase, 3.75 Avg Review.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4139565"/>
            <a:ext cx="6408063" cy="1730812"/>
          </a:xfrm>
          <a:prstGeom prst="roundRect">
            <a:avLst>
              <a:gd name="adj" fmla="val 528"/>
            </a:avLst>
          </a:prstGeom>
          <a:solidFill>
            <a:srgbClr val="07070C"/>
          </a:solidFill>
          <a:ln w="30480">
            <a:solidFill>
              <a:srgbClr val="3F3F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5842" y="43968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Visualizations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85842" y="4887278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Subscription status, revenue by category/age, sales by category/age.</a:t>
            </a:r>
            <a:endParaRPr lang="en-US" sz="175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C1038F0-028C-3056-5AF5-195654D79927}"/>
              </a:ext>
            </a:extLst>
          </p:cNvPr>
          <p:cNvSpPr/>
          <p:nvPr/>
        </p:nvSpPr>
        <p:spPr>
          <a:xfrm>
            <a:off x="12633158" y="7507705"/>
            <a:ext cx="1997242" cy="72189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620" y="604718"/>
            <a:ext cx="6821091" cy="687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97B8FF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Business Recommendations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2011" y="1738253"/>
            <a:ext cx="329803" cy="329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4114" y="1731526"/>
            <a:ext cx="2748796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0D6DE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Boost Subscriptions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1484114" y="2207062"/>
            <a:ext cx="12376666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Promote exclusive benefits.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2011" y="3005316"/>
            <a:ext cx="329803" cy="32980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84114" y="2998589"/>
            <a:ext cx="3346252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0D6DE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Customer Loyalty Programs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1484114" y="3474125"/>
            <a:ext cx="12376666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Reward repeat buyers.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2011" y="4272379"/>
            <a:ext cx="329803" cy="32980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84114" y="4265652"/>
            <a:ext cx="2776061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0D6DE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Review Discount Policy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1484114" y="4741188"/>
            <a:ext cx="12376666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Balance sales with margin control.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2011" y="5539442"/>
            <a:ext cx="329803" cy="32980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84114" y="5532715"/>
            <a:ext cx="2748796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0D6DE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Product Positioning</a:t>
            </a:r>
            <a:endParaRPr lang="en-US" sz="2150" dirty="0"/>
          </a:p>
        </p:txBody>
      </p:sp>
      <p:sp>
        <p:nvSpPr>
          <p:cNvPr id="14" name="Text 8"/>
          <p:cNvSpPr/>
          <p:nvPr/>
        </p:nvSpPr>
        <p:spPr>
          <a:xfrm>
            <a:off x="1484114" y="6008251"/>
            <a:ext cx="12376666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Highlight top-rated and best-selling products.</a:t>
            </a:r>
            <a:endParaRPr lang="en-US" sz="17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2011" y="6806505"/>
            <a:ext cx="329803" cy="32980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84114" y="6799778"/>
            <a:ext cx="2748796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0D6DE"/>
                </a:solidFill>
                <a:latin typeface="Barlow Semi Bold" pitchFamily="34" charset="0"/>
                <a:ea typeface="Barlow Semi Bold" pitchFamily="34" charset="-122"/>
                <a:cs typeface="Barlow Semi Bold" pitchFamily="34" charset="-120"/>
              </a:rPr>
              <a:t>Targeted Marketing</a:t>
            </a:r>
            <a:endParaRPr lang="en-US" sz="2150" dirty="0"/>
          </a:p>
        </p:txBody>
      </p:sp>
      <p:sp>
        <p:nvSpPr>
          <p:cNvPr id="17" name="Text 10"/>
          <p:cNvSpPr/>
          <p:nvPr/>
        </p:nvSpPr>
        <p:spPr>
          <a:xfrm>
            <a:off x="1484114" y="7275314"/>
            <a:ext cx="12376666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Focus on high-revenue age groups and express shipping users.</a:t>
            </a:r>
            <a:endParaRPr lang="en-US" sz="17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272AF90-089E-F5CD-75DF-2EB79662F622}"/>
              </a:ext>
            </a:extLst>
          </p:cNvPr>
          <p:cNvSpPr/>
          <p:nvPr/>
        </p:nvSpPr>
        <p:spPr>
          <a:xfrm>
            <a:off x="12464716" y="7495674"/>
            <a:ext cx="2165684" cy="73392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431</Words>
  <Application>Microsoft Office PowerPoint</Application>
  <PresentationFormat>Custom</PresentationFormat>
  <Paragraphs>118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Barlow Semi Bold</vt:lpstr>
      <vt:lpstr>Arial</vt:lpstr>
      <vt:lpstr>Barlow Light</vt:lpstr>
      <vt:lpstr>Barlow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Ahmad Ali</cp:lastModifiedBy>
  <cp:revision>2</cp:revision>
  <dcterms:created xsi:type="dcterms:W3CDTF">2026-01-13T14:56:21Z</dcterms:created>
  <dcterms:modified xsi:type="dcterms:W3CDTF">2026-02-01T06:21:50Z</dcterms:modified>
</cp:coreProperties>
</file>